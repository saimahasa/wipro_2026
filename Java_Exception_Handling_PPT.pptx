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u Sai" userId="e7c05477d0ad59ef" providerId="LiveId" clId="{628FCC02-EC4A-46BB-84BD-BDBB18B77249}"/>
    <pc:docChg chg="custSel addSld modSld">
      <pc:chgData name="Renu Sai" userId="e7c05477d0ad59ef" providerId="LiveId" clId="{628FCC02-EC4A-46BB-84BD-BDBB18B77249}" dt="2026-04-28T05:15:06.276" v="297" actId="14100"/>
      <pc:docMkLst>
        <pc:docMk/>
      </pc:docMkLst>
      <pc:sldChg chg="modSp mod">
        <pc:chgData name="Renu Sai" userId="e7c05477d0ad59ef" providerId="LiveId" clId="{628FCC02-EC4A-46BB-84BD-BDBB18B77249}" dt="2026-04-28T05:15:06.276" v="297" actId="14100"/>
        <pc:sldMkLst>
          <pc:docMk/>
          <pc:sldMk cId="0" sldId="262"/>
        </pc:sldMkLst>
        <pc:spChg chg="mod">
          <ac:chgData name="Renu Sai" userId="e7c05477d0ad59ef" providerId="LiveId" clId="{628FCC02-EC4A-46BB-84BD-BDBB18B77249}" dt="2026-04-28T05:15:06.276" v="297" actId="14100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CDBC2-4751-4F4A-A5C1-D21996F28DE8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2AC65-432B-4AC8-9229-17156B402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028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2AC65-432B-4AC8-9229-17156B402C5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421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 Exception Handling - Complete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Introduction, Types, Try-Catch, Throw, Throws, Finally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Mechanism to handle runtime errors in Java</a:t>
            </a:r>
          </a:p>
          <a:p>
            <a:r>
              <a:rPr dirty="0"/>
              <a:t>• Ensures program runs smoothly even after </a:t>
            </a:r>
            <a:r>
              <a:rPr lang="en-US" dirty="0"/>
              <a:t>           </a:t>
            </a:r>
            <a:r>
              <a:rPr dirty="0"/>
              <a:t>exceptions</a:t>
            </a:r>
          </a:p>
          <a:p>
            <a:r>
              <a:rPr dirty="0"/>
              <a:t>• Uses try, catch, throw, throws, and finally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Gracefully handles errors</a:t>
            </a:r>
          </a:p>
          <a:p>
            <a:r>
              <a:rPr dirty="0"/>
              <a:t>• Maintains program flow</a:t>
            </a:r>
          </a:p>
          <a:p>
            <a:r>
              <a:rPr dirty="0"/>
              <a:t>• Provides useful debugging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Exceptions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Checked Exceptions (Compile-Time)</a:t>
            </a:r>
          </a:p>
          <a:p>
            <a:r>
              <a:rPr dirty="0"/>
              <a:t>2. Unchecked Exceptions (Runtime)</a:t>
            </a:r>
          </a:p>
          <a:p>
            <a:r>
              <a:rPr dirty="0"/>
              <a:t>3. Errors (JVM-related, not meant to be caught)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Checked Exception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FileReader</a:t>
            </a:r>
            <a:r>
              <a:rPr dirty="0"/>
              <a:t> </a:t>
            </a:r>
            <a:r>
              <a:rPr dirty="0" err="1"/>
              <a:t>fr</a:t>
            </a:r>
            <a:r>
              <a:rPr dirty="0"/>
              <a:t> = new </a:t>
            </a:r>
            <a:r>
              <a:rPr dirty="0" err="1"/>
              <a:t>FileReader</a:t>
            </a:r>
            <a:r>
              <a:rPr dirty="0"/>
              <a:t>("file.txt");</a:t>
            </a:r>
          </a:p>
          <a:p>
            <a:r>
              <a:rPr dirty="0"/>
              <a:t>// Throws </a:t>
            </a:r>
            <a:r>
              <a:rPr dirty="0" err="1"/>
              <a:t>FileNotFoundException</a:t>
            </a:r>
            <a:endParaRPr dirty="0"/>
          </a:p>
          <a:p>
            <a:r>
              <a:rPr dirty="0"/>
              <a:t>// Must be handled using try-catch or throws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Unchecked Exception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dirty="0"/>
              <a:t>int a = 10 / 0;  // </a:t>
            </a:r>
            <a:r>
              <a:rPr dirty="0" err="1"/>
              <a:t>ArithmeticException</a:t>
            </a:r>
            <a:endParaRPr dirty="0"/>
          </a:p>
          <a:p>
            <a:r>
              <a:rPr dirty="0"/>
              <a:t>String str = null; </a:t>
            </a:r>
            <a:r>
              <a:rPr dirty="0" err="1"/>
              <a:t>str.length</a:t>
            </a:r>
            <a:r>
              <a:rPr dirty="0"/>
              <a:t>();  // </a:t>
            </a:r>
            <a:r>
              <a:rPr dirty="0" err="1"/>
              <a:t>NullPointerException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1143000"/>
          </a:xfrm>
        </p:spPr>
        <p:txBody>
          <a:bodyPr/>
          <a:lstStyle/>
          <a:p>
            <a:r>
              <a:rPr dirty="0"/>
              <a:t>try-catch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027611"/>
            <a:ext cx="8560524" cy="5468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try </a:t>
            </a:r>
            <a:endParaRPr lang="en-US" dirty="0"/>
          </a:p>
          <a:p>
            <a:pPr marL="0" indent="0">
              <a:buNone/>
            </a:pPr>
            <a:r>
              <a:rPr dirty="0"/>
              <a:t>{</a:t>
            </a:r>
          </a:p>
          <a:p>
            <a:pPr marL="0" indent="0">
              <a:buNone/>
            </a:pPr>
            <a:r>
              <a:rPr dirty="0"/>
              <a:t> risky code</a:t>
            </a:r>
            <a:r>
              <a:rPr lang="en-US" dirty="0"/>
              <a:t>  </a:t>
            </a:r>
            <a:endParaRPr dirty="0"/>
          </a:p>
          <a:p>
            <a:pPr marL="0" indent="0">
              <a:buNone/>
            </a:pPr>
            <a:r>
              <a:rPr dirty="0"/>
              <a:t>} </a:t>
            </a:r>
            <a:endParaRPr lang="en-US" dirty="0"/>
          </a:p>
          <a:p>
            <a:pPr marL="0" indent="0">
              <a:buNone/>
            </a:pPr>
            <a:r>
              <a:rPr dirty="0"/>
              <a:t>catch (</a:t>
            </a:r>
            <a:r>
              <a:rPr dirty="0" err="1"/>
              <a:t>ExceptionType</a:t>
            </a:r>
            <a:r>
              <a:rPr dirty="0"/>
              <a:t> e)</a:t>
            </a:r>
            <a:endParaRPr lang="en-US" dirty="0"/>
          </a:p>
          <a:p>
            <a:pPr marL="0" indent="0">
              <a:buNone/>
            </a:pPr>
            <a:r>
              <a:rPr dirty="0"/>
              <a:t>{</a:t>
            </a:r>
            <a:endParaRPr lang="en-US" dirty="0"/>
          </a:p>
          <a:p>
            <a:pPr marL="0" indent="0">
              <a:buNone/>
            </a:pPr>
            <a:r>
              <a:rPr dirty="0"/>
              <a:t> handling code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B3D4-E27C-A058-FE93-5AEDB507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F0315-97F8-C8E5-4CDE-2F72AA6A4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Try</a:t>
            </a:r>
          </a:p>
          <a:p>
            <a:pPr marL="0" indent="0">
              <a:buNone/>
            </a:pPr>
            <a:r>
              <a:rPr lang="en-US" sz="1800" dirty="0"/>
              <a:t>Catch</a:t>
            </a:r>
          </a:p>
          <a:p>
            <a:pPr marL="0" indent="0">
              <a:buNone/>
            </a:pPr>
            <a:r>
              <a:rPr lang="en-US" sz="1800" dirty="0"/>
              <a:t>Finally</a:t>
            </a:r>
          </a:p>
          <a:p>
            <a:pPr marL="0" indent="0">
              <a:buNone/>
            </a:pPr>
            <a:r>
              <a:rPr lang="en-US" sz="1800" dirty="0"/>
              <a:t>Throw</a:t>
            </a:r>
          </a:p>
          <a:p>
            <a:pPr marL="0" indent="0">
              <a:buNone/>
            </a:pPr>
            <a:r>
              <a:rPr lang="en-US" sz="1800" dirty="0"/>
              <a:t>Throws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074709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try-catch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6286"/>
            <a:ext cx="8442960" cy="4819877"/>
          </a:xfrm>
        </p:spPr>
        <p:txBody>
          <a:bodyPr/>
          <a:lstStyle/>
          <a:p>
            <a:r>
              <a:rPr dirty="0"/>
              <a:t>try {</a:t>
            </a:r>
            <a:endParaRPr lang="en-US" dirty="0"/>
          </a:p>
          <a:p>
            <a:r>
              <a:rPr dirty="0"/>
              <a:t> int a = 5 / 0; </a:t>
            </a:r>
            <a:endParaRPr lang="en-US" dirty="0"/>
          </a:p>
          <a:p>
            <a:r>
              <a:rPr dirty="0"/>
              <a:t>}</a:t>
            </a:r>
          </a:p>
          <a:p>
            <a:r>
              <a:rPr dirty="0"/>
              <a:t>catch (</a:t>
            </a:r>
            <a:r>
              <a:rPr dirty="0" err="1"/>
              <a:t>ArithmeticException</a:t>
            </a:r>
            <a:r>
              <a:rPr dirty="0"/>
              <a:t> e) </a:t>
            </a:r>
            <a:endParaRPr lang="en-US" dirty="0"/>
          </a:p>
          <a:p>
            <a:r>
              <a:rPr dirty="0"/>
              <a:t>{</a:t>
            </a:r>
          </a:p>
          <a:p>
            <a:r>
              <a:rPr dirty="0" err="1"/>
              <a:t>System.out.println</a:t>
            </a:r>
            <a:r>
              <a:rPr dirty="0"/>
              <a:t>("Cannot divide by zero!");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Catch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 { risky code }</a:t>
            </a:r>
          </a:p>
          <a:p>
            <a:r>
              <a:t>catch (ArithmeticException e) { ... }</a:t>
            </a:r>
          </a:p>
          <a:p>
            <a:r>
              <a:t>catch (NullPointerException e) { ...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try-catch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try {</a:t>
            </a:r>
          </a:p>
          <a:p>
            <a:r>
              <a:rPr dirty="0"/>
              <a:t>   try { risky code }</a:t>
            </a:r>
          </a:p>
          <a:p>
            <a:r>
              <a:rPr dirty="0"/>
              <a:t>   catch (...) { ... }</a:t>
            </a:r>
          </a:p>
          <a:p>
            <a:r>
              <a:rPr dirty="0"/>
              <a:t>   another risky code</a:t>
            </a:r>
          </a:p>
          <a:p>
            <a:r>
              <a:rPr dirty="0"/>
              <a:t>} catch (...) { ...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throw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525963"/>
          </a:xfrm>
        </p:spPr>
        <p:txBody>
          <a:bodyPr/>
          <a:lstStyle/>
          <a:p>
            <a:r>
              <a:rPr dirty="0"/>
              <a:t>Used to explicitly throw an exception.</a:t>
            </a:r>
          </a:p>
          <a:p>
            <a:r>
              <a:rPr dirty="0"/>
              <a:t>Syntax: throw new </a:t>
            </a:r>
            <a:r>
              <a:rPr dirty="0" err="1"/>
              <a:t>ExceptionType</a:t>
            </a:r>
            <a:r>
              <a:rPr dirty="0"/>
              <a:t>("message");</a:t>
            </a:r>
            <a:endParaRPr lang="en-US" dirty="0"/>
          </a:p>
          <a:p>
            <a:endParaRPr lang="en-IN" dirty="0"/>
          </a:p>
          <a:p>
            <a:r>
              <a:rPr lang="en-US" sz="1800" dirty="0"/>
              <a:t> Custom and checked exceptions serve a different purpose</a:t>
            </a:r>
          </a:p>
          <a:p>
            <a:r>
              <a:rPr lang="en-US" sz="1800" dirty="0"/>
              <a:t>Throw</a:t>
            </a:r>
          </a:p>
          <a:p>
            <a:r>
              <a:rPr lang="en-US" sz="1800" dirty="0"/>
              <a:t>Used to explicitly throw an exception</a:t>
            </a:r>
          </a:p>
          <a:p>
            <a:r>
              <a:rPr lang="en-US" sz="1800" dirty="0"/>
              <a:t>Used inside a method or block</a:t>
            </a:r>
          </a:p>
          <a:p>
            <a:r>
              <a:rPr lang="en-US" sz="1800" dirty="0"/>
              <a:t>Can throw one exception at a time</a:t>
            </a:r>
          </a:p>
          <a:p>
            <a:endParaRPr lang="en-US" sz="1800" dirty="0"/>
          </a:p>
          <a:p>
            <a:r>
              <a:rPr lang="en-US" sz="1800" dirty="0"/>
              <a:t>Ex: throw new </a:t>
            </a:r>
            <a:r>
              <a:rPr lang="en-US" sz="1800" dirty="0" err="1"/>
              <a:t>ExceptionType</a:t>
            </a:r>
            <a:r>
              <a:rPr lang="en-US" sz="1800"/>
              <a:t>(“ Messages”);</a:t>
            </a:r>
            <a:endParaRPr lang="en-US" sz="1800" dirty="0"/>
          </a:p>
          <a:p>
            <a:endParaRPr lang="en-US" sz="1800" dirty="0"/>
          </a:p>
          <a:p>
            <a:endParaRPr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if (age &lt; 18) </a:t>
            </a:r>
            <a:endParaRPr lang="en-US" dirty="0"/>
          </a:p>
          <a:p>
            <a:pPr marL="0" indent="0">
              <a:buNone/>
            </a:pPr>
            <a:r>
              <a:rPr dirty="0"/>
              <a:t>{</a:t>
            </a:r>
          </a:p>
          <a:p>
            <a:pPr marL="0" indent="0">
              <a:buNone/>
            </a:pPr>
            <a:r>
              <a:rPr dirty="0"/>
              <a:t>throw new </a:t>
            </a:r>
            <a:r>
              <a:rPr dirty="0" err="1"/>
              <a:t>ArithmeticException</a:t>
            </a:r>
            <a:r>
              <a:rPr dirty="0"/>
              <a:t>("Not eligible to vote");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throws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Declares exceptions a method might throw.</a:t>
            </a:r>
          </a:p>
          <a:p>
            <a:r>
              <a:rPr dirty="0"/>
              <a:t>Syntax: </a:t>
            </a:r>
            <a:r>
              <a:rPr dirty="0" err="1"/>
              <a:t>returnType</a:t>
            </a:r>
            <a:r>
              <a:rPr dirty="0"/>
              <a:t> method() throws </a:t>
            </a:r>
            <a:r>
              <a:rPr dirty="0" err="1"/>
              <a:t>ExceptionType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throws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static void </a:t>
            </a:r>
            <a:r>
              <a:rPr dirty="0" err="1"/>
              <a:t>readFile</a:t>
            </a:r>
            <a:r>
              <a:rPr dirty="0"/>
              <a:t>() throws </a:t>
            </a:r>
            <a:r>
              <a:rPr dirty="0" err="1"/>
              <a:t>IOException</a:t>
            </a:r>
            <a:r>
              <a:rPr dirty="0"/>
              <a:t> {</a:t>
            </a:r>
          </a:p>
          <a:p>
            <a:r>
              <a:rPr lang="en-IN" dirty="0"/>
              <a:t>    </a:t>
            </a:r>
            <a:r>
              <a:rPr dirty="0" err="1"/>
              <a:t>FileReader</a:t>
            </a:r>
            <a:r>
              <a:rPr dirty="0"/>
              <a:t> </a:t>
            </a:r>
            <a:r>
              <a:rPr dirty="0" err="1"/>
              <a:t>fr</a:t>
            </a:r>
            <a:r>
              <a:rPr dirty="0"/>
              <a:t> = new </a:t>
            </a:r>
            <a:r>
              <a:rPr dirty="0" err="1"/>
              <a:t>FileReader</a:t>
            </a:r>
            <a:r>
              <a:rPr dirty="0"/>
              <a:t>("abc.txt");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finally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6347"/>
            <a:ext cx="8229600" cy="4525963"/>
          </a:xfrm>
        </p:spPr>
        <p:txBody>
          <a:bodyPr/>
          <a:lstStyle/>
          <a:p>
            <a:r>
              <a:rPr dirty="0"/>
              <a:t>Always executes, even if exception is thrown or not.</a:t>
            </a:r>
          </a:p>
          <a:p>
            <a:r>
              <a:rPr dirty="0"/>
              <a:t>Used for cleanup operations like closing files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finally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 { risky code }</a:t>
            </a:r>
          </a:p>
          <a:p>
            <a:r>
              <a:t>catch (...) { handle error }</a:t>
            </a:r>
          </a:p>
          <a:p>
            <a:r>
              <a:t>finally { cleanup code 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class </a:t>
            </a:r>
            <a:r>
              <a:rPr dirty="0" err="1"/>
              <a:t>MyException</a:t>
            </a:r>
            <a:r>
              <a:rPr dirty="0"/>
              <a:t> extends Exception { ... }</a:t>
            </a:r>
          </a:p>
          <a:p>
            <a:r>
              <a:rPr dirty="0"/>
              <a:t>throw new </a:t>
            </a:r>
            <a:r>
              <a:rPr dirty="0" err="1"/>
              <a:t>MyException</a:t>
            </a:r>
            <a:r>
              <a:rPr dirty="0"/>
              <a:t>("message");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try     -&gt; Enclose code that may throw exception</a:t>
            </a:r>
          </a:p>
          <a:p>
            <a:r>
              <a:rPr dirty="0"/>
              <a:t>catch   -&gt; Handle exception</a:t>
            </a:r>
          </a:p>
          <a:p>
            <a:r>
              <a:rPr dirty="0"/>
              <a:t>finally -&gt; Always execute</a:t>
            </a:r>
          </a:p>
          <a:p>
            <a:r>
              <a:rPr dirty="0"/>
              <a:t>throw   -&gt; Manually throw an exception</a:t>
            </a:r>
          </a:p>
          <a:p>
            <a:r>
              <a:rPr dirty="0"/>
              <a:t>throws  -&gt; Declare exception in method signature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dirty="0"/>
              <a:t>ATM scenario:</a:t>
            </a:r>
          </a:p>
          <a:p>
            <a:r>
              <a:rPr dirty="0"/>
              <a:t>• Wrong PIN -&gt; Exception</a:t>
            </a:r>
          </a:p>
          <a:p>
            <a:r>
              <a:rPr dirty="0"/>
              <a:t>• Error message shown -&gt; Catch block</a:t>
            </a:r>
          </a:p>
          <a:p>
            <a:r>
              <a:rPr dirty="0"/>
              <a:t>• Retry with correct PIN -&gt; Normal flow</a:t>
            </a:r>
          </a:p>
          <a:p>
            <a:r>
              <a:rPr dirty="0"/>
              <a:t>• Log attempt -&gt; finally block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AE894A5-A5C7-4C3F-F207-454BD610CE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1776" y="1284860"/>
            <a:ext cx="7720447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💳 Use Case: ATM Card Exception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Scenario: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inserts card.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Enters PIN.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PIN is incorrect → throw an exception.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Exception is caught and handled.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every transaction using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finally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509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514</Words>
  <Application>Microsoft Office PowerPoint</Application>
  <PresentationFormat>On-screen Show (4:3)</PresentationFormat>
  <Paragraphs>107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Arial Unicode MS</vt:lpstr>
      <vt:lpstr>Calibri</vt:lpstr>
      <vt:lpstr>Office Theme</vt:lpstr>
      <vt:lpstr>Java Exception Handling - Complete Guide</vt:lpstr>
      <vt:lpstr>Introduction to Exception Handling</vt:lpstr>
      <vt:lpstr>Benefits of Exception Handling</vt:lpstr>
      <vt:lpstr>Types of Exceptions in Java</vt:lpstr>
      <vt:lpstr>Checked Exception Example</vt:lpstr>
      <vt:lpstr>Unchecked Exception Example</vt:lpstr>
      <vt:lpstr>try-catch Block</vt:lpstr>
      <vt:lpstr>PowerPoint Presentation</vt:lpstr>
      <vt:lpstr>Example of try-catch</vt:lpstr>
      <vt:lpstr>Multiple Catch Blocks</vt:lpstr>
      <vt:lpstr>Nested try-catch</vt:lpstr>
      <vt:lpstr>throw Keyword</vt:lpstr>
      <vt:lpstr>throw Example</vt:lpstr>
      <vt:lpstr>throws Keyword</vt:lpstr>
      <vt:lpstr>throws Example</vt:lpstr>
      <vt:lpstr>finally Block</vt:lpstr>
      <vt:lpstr>finally Example</vt:lpstr>
      <vt:lpstr>Custom Exception</vt:lpstr>
      <vt:lpstr>Summary Table</vt:lpstr>
      <vt:lpstr>Real-Life Analogy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Renu Sai</cp:lastModifiedBy>
  <cp:revision>1</cp:revision>
  <dcterms:created xsi:type="dcterms:W3CDTF">2013-01-27T09:14:16Z</dcterms:created>
  <dcterms:modified xsi:type="dcterms:W3CDTF">2026-04-28T05:15:11Z</dcterms:modified>
  <cp:category/>
</cp:coreProperties>
</file>