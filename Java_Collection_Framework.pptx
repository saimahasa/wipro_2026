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7" r:id="rId8"/>
    <p:sldId id="268" r:id="rId9"/>
    <p:sldId id="261" r:id="rId10"/>
    <p:sldId id="271" r:id="rId11"/>
    <p:sldId id="270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u Sai" userId="e7c05477d0ad59ef" providerId="LiveId" clId="{628FCC02-EC4A-46BB-84BD-BDBB18B77249}"/>
    <pc:docChg chg="custSel addSld delSld modSld">
      <pc:chgData name="Renu Sai" userId="e7c05477d0ad59ef" providerId="LiveId" clId="{628FCC02-EC4A-46BB-84BD-BDBB18B77249}" dt="2026-01-28T07:04:21.243" v="489" actId="2696"/>
      <pc:docMkLst>
        <pc:docMk/>
      </pc:docMkLst>
      <pc:sldChg chg="modSp mod">
        <pc:chgData name="Renu Sai" userId="e7c05477d0ad59ef" providerId="LiveId" clId="{628FCC02-EC4A-46BB-84BD-BDBB18B77249}" dt="2026-01-23T09:23:23.164" v="0" actId="14100"/>
        <pc:sldMkLst>
          <pc:docMk/>
          <pc:sldMk cId="0" sldId="256"/>
        </pc:sldMkLst>
        <pc:spChg chg="mod">
          <ac:chgData name="Renu Sai" userId="e7c05477d0ad59ef" providerId="LiveId" clId="{628FCC02-EC4A-46BB-84BD-BDBB18B77249}" dt="2026-01-23T09:23:23.164" v="0" actId="14100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Renu Sai" userId="e7c05477d0ad59ef" providerId="LiveId" clId="{628FCC02-EC4A-46BB-84BD-BDBB18B77249}" dt="2026-01-23T11:44:30.180" v="103" actId="255"/>
        <pc:sldMkLst>
          <pc:docMk/>
          <pc:sldMk cId="0" sldId="260"/>
        </pc:sldMkLst>
        <pc:spChg chg="mod">
          <ac:chgData name="Renu Sai" userId="e7c05477d0ad59ef" providerId="LiveId" clId="{628FCC02-EC4A-46BB-84BD-BDBB18B77249}" dt="2026-01-23T11:44:30.180" v="103" actId="255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Renu Sai" userId="e7c05477d0ad59ef" providerId="LiveId" clId="{628FCC02-EC4A-46BB-84BD-BDBB18B77249}" dt="2026-01-28T05:58:50.539" v="174" actId="20577"/>
        <pc:sldMkLst>
          <pc:docMk/>
          <pc:sldMk cId="0" sldId="261"/>
        </pc:sldMkLst>
        <pc:spChg chg="mod">
          <ac:chgData name="Renu Sai" userId="e7c05477d0ad59ef" providerId="LiveId" clId="{628FCC02-EC4A-46BB-84BD-BDBB18B77249}" dt="2026-01-28T05:58:50.539" v="174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Renu Sai" userId="e7c05477d0ad59ef" providerId="LiveId" clId="{628FCC02-EC4A-46BB-84BD-BDBB18B77249}" dt="2026-01-27T06:30:34.217" v="112" actId="20577"/>
        <pc:sldMkLst>
          <pc:docMk/>
          <pc:sldMk cId="2130271225" sldId="267"/>
        </pc:sldMkLst>
        <pc:spChg chg="mod">
          <ac:chgData name="Renu Sai" userId="e7c05477d0ad59ef" providerId="LiveId" clId="{628FCC02-EC4A-46BB-84BD-BDBB18B77249}" dt="2026-01-27T06:30:34.217" v="112" actId="20577"/>
          <ac:spMkLst>
            <pc:docMk/>
            <pc:sldMk cId="2130271225" sldId="267"/>
            <ac:spMk id="3" creationId="{6FDF7A4D-5346-B4E6-FB5F-32EE9EF94BB2}"/>
          </ac:spMkLst>
        </pc:spChg>
      </pc:sldChg>
      <pc:sldChg chg="del">
        <pc:chgData name="Renu Sai" userId="e7c05477d0ad59ef" providerId="LiveId" clId="{628FCC02-EC4A-46BB-84BD-BDBB18B77249}" dt="2026-01-28T06:24:11.362" v="175" actId="2696"/>
        <pc:sldMkLst>
          <pc:docMk/>
          <pc:sldMk cId="839385233" sldId="269"/>
        </pc:sldMkLst>
      </pc:sldChg>
      <pc:sldChg chg="del">
        <pc:chgData name="Renu Sai" userId="e7c05477d0ad59ef" providerId="LiveId" clId="{628FCC02-EC4A-46BB-84BD-BDBB18B77249}" dt="2026-01-28T06:24:15.809" v="176" actId="2696"/>
        <pc:sldMkLst>
          <pc:docMk/>
          <pc:sldMk cId="203840966" sldId="271"/>
        </pc:sldMkLst>
      </pc:sldChg>
      <pc:sldChg chg="modSp new mod">
        <pc:chgData name="Renu Sai" userId="e7c05477d0ad59ef" providerId="LiveId" clId="{628FCC02-EC4A-46BB-84BD-BDBB18B77249}" dt="2026-01-28T06:41:43.652" v="471" actId="5793"/>
        <pc:sldMkLst>
          <pc:docMk/>
          <pc:sldMk cId="2440524343" sldId="271"/>
        </pc:sldMkLst>
        <pc:spChg chg="mod">
          <ac:chgData name="Renu Sai" userId="e7c05477d0ad59ef" providerId="LiveId" clId="{628FCC02-EC4A-46BB-84BD-BDBB18B77249}" dt="2026-01-28T06:41:43.652" v="471" actId="5793"/>
          <ac:spMkLst>
            <pc:docMk/>
            <pc:sldMk cId="2440524343" sldId="271"/>
            <ac:spMk id="3" creationId="{D3552C23-AB77-6733-C1A4-6D76C35E17B8}"/>
          </ac:spMkLst>
        </pc:spChg>
      </pc:sldChg>
      <pc:sldChg chg="modSp new del mod">
        <pc:chgData name="Renu Sai" userId="e7c05477d0ad59ef" providerId="LiveId" clId="{628FCC02-EC4A-46BB-84BD-BDBB18B77249}" dt="2026-01-28T07:04:21.243" v="489" actId="2696"/>
        <pc:sldMkLst>
          <pc:docMk/>
          <pc:sldMk cId="2330191423" sldId="272"/>
        </pc:sldMkLst>
        <pc:spChg chg="mod">
          <ac:chgData name="Renu Sai" userId="e7c05477d0ad59ef" providerId="LiveId" clId="{628FCC02-EC4A-46BB-84BD-BDBB18B77249}" dt="2026-01-28T07:03:22.803" v="488" actId="20577"/>
          <ac:spMkLst>
            <pc:docMk/>
            <pc:sldMk cId="2330191423" sldId="272"/>
            <ac:spMk id="3" creationId="{0BEC3079-D309-47BE-93B4-2AAE47111E4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4000" dirty="0">
                <a:solidFill>
                  <a:schemeClr val="tx2"/>
                </a:solidFill>
              </a:rPr>
              <a:t>Java Collection Framework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324497"/>
            <a:ext cx="6400800" cy="916577"/>
          </a:xfrm>
        </p:spPr>
        <p:txBody>
          <a:bodyPr/>
          <a:lstStyle/>
          <a:p>
            <a:r>
              <a:rPr b="1" dirty="0"/>
              <a:t>Core Concepts and Interfaces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sz="3200" dirty="0">
                <a:solidFill>
                  <a:schemeClr val="tx2"/>
                </a:solidFill>
              </a:rPr>
              <a:t>Introduction to Collection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78280"/>
            <a:ext cx="8229600" cy="4525963"/>
          </a:xfrm>
        </p:spPr>
        <p:txBody>
          <a:bodyPr>
            <a:normAutofit/>
          </a:bodyPr>
          <a:lstStyle/>
          <a:p>
            <a:r>
              <a:rPr sz="2400" dirty="0"/>
              <a:t>Java Collection Framework is a unified architecture for representing and manipulating collections.</a:t>
            </a:r>
            <a:endParaRPr lang="en-US" sz="2400" dirty="0"/>
          </a:p>
          <a:p>
            <a:pPr marL="0" indent="0">
              <a:buNone/>
            </a:pPr>
            <a:endParaRPr sz="2400" dirty="0"/>
          </a:p>
          <a:p>
            <a:r>
              <a:rPr sz="2400" dirty="0"/>
              <a:t>It includes interfaces like List, Set, Map, and classes like </a:t>
            </a:r>
            <a:r>
              <a:rPr sz="2400" dirty="0" err="1"/>
              <a:t>ArrayList</a:t>
            </a:r>
            <a:r>
              <a:rPr sz="2400" dirty="0"/>
              <a:t>, LinkedList, HashSet, </a:t>
            </a:r>
            <a:r>
              <a:rPr sz="2400" dirty="0" err="1"/>
              <a:t>TreeSet</a:t>
            </a:r>
            <a:r>
              <a:rPr sz="2400" dirty="0"/>
              <a:t>, etc.</a:t>
            </a:r>
            <a:endParaRPr lang="en-US" sz="2400" dirty="0"/>
          </a:p>
          <a:p>
            <a:pPr marL="0" indent="0">
              <a:buNone/>
            </a:pPr>
            <a:endParaRPr sz="2400" dirty="0"/>
          </a:p>
          <a:p>
            <a:r>
              <a:rPr sz="2400" dirty="0"/>
              <a:t>Benefits: Reduces programming effort, increases performance, and supports data manipulation.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chemeClr val="tx2"/>
                </a:solidFill>
              </a:rPr>
              <a:t>Understanding List, Set, and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/>
          </a:bodyPr>
          <a:lstStyle/>
          <a:p>
            <a:r>
              <a:rPr sz="2400" dirty="0"/>
              <a:t>List: An ordered collection that allows duplicates. Example classes: </a:t>
            </a:r>
            <a:r>
              <a:rPr sz="2400" dirty="0" err="1"/>
              <a:t>ArrayList</a:t>
            </a:r>
            <a:r>
              <a:rPr sz="2400" dirty="0"/>
              <a:t>, LinkedList.</a:t>
            </a:r>
            <a:endParaRPr lang="en-US" sz="2400" dirty="0"/>
          </a:p>
          <a:p>
            <a:pPr marL="0" indent="0">
              <a:buNone/>
            </a:pPr>
            <a:endParaRPr sz="2400" dirty="0"/>
          </a:p>
          <a:p>
            <a:r>
              <a:rPr sz="2400" dirty="0"/>
              <a:t>Set: A collection that does not allow duplicate elements. Example classes: HashSet, </a:t>
            </a:r>
            <a:r>
              <a:rPr sz="2400" dirty="0" err="1"/>
              <a:t>TreeSet</a:t>
            </a:r>
            <a:r>
              <a:rPr sz="2400" dirty="0"/>
              <a:t>.</a:t>
            </a:r>
            <a:endParaRPr lang="en-US" sz="2400" dirty="0"/>
          </a:p>
          <a:p>
            <a:pPr marL="0" indent="0">
              <a:buNone/>
            </a:pPr>
            <a:endParaRPr sz="2400" dirty="0"/>
          </a:p>
          <a:p>
            <a:r>
              <a:rPr sz="2400" dirty="0"/>
              <a:t>Map: Stores key-value pairs with unique keys. Example classes: HashMap, </a:t>
            </a:r>
            <a:r>
              <a:rPr sz="2400" dirty="0" err="1"/>
              <a:t>TreeMap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 err="1">
                <a:solidFill>
                  <a:schemeClr val="tx2"/>
                </a:solidFill>
              </a:rPr>
              <a:t>ArrayList</a:t>
            </a:r>
            <a:r>
              <a:rPr sz="3200" dirty="0">
                <a:solidFill>
                  <a:schemeClr val="tx2"/>
                </a:solidFill>
              </a:rPr>
              <a:t> and LinkedList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263" y="1330235"/>
            <a:ext cx="8229600" cy="4525963"/>
          </a:xfrm>
        </p:spPr>
        <p:txBody>
          <a:bodyPr>
            <a:normAutofit/>
          </a:bodyPr>
          <a:lstStyle/>
          <a:p>
            <a:r>
              <a:rPr sz="2400" dirty="0" err="1"/>
              <a:t>ArrayList</a:t>
            </a:r>
            <a:r>
              <a:rPr sz="2400" dirty="0"/>
              <a:t>: Backed by a dynamic array, provides fast access (get/set) but slower inserts/removals.</a:t>
            </a:r>
            <a:endParaRPr lang="en-US" sz="2400" dirty="0"/>
          </a:p>
          <a:p>
            <a:pPr marL="0" indent="0">
              <a:buNone/>
            </a:pPr>
            <a:endParaRPr sz="2400" dirty="0"/>
          </a:p>
          <a:p>
            <a:r>
              <a:rPr sz="2400" dirty="0"/>
              <a:t>LinkedList: Implements a doubly-linked list, efficient for add/remove operations but slower access.</a:t>
            </a:r>
            <a:endParaRPr lang="en-US" sz="2400" dirty="0"/>
          </a:p>
          <a:p>
            <a:pPr marL="0" indent="0">
              <a:buNone/>
            </a:pPr>
            <a:endParaRPr sz="2400" dirty="0"/>
          </a:p>
          <a:p>
            <a:r>
              <a:rPr sz="2400" dirty="0"/>
              <a:t>Both implement the List interface and maintain insertion order.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89D22-079F-ABCF-9939-184A90387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39595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/>
              <a:t>🏥 Use Case: Patient Management System</a:t>
            </a:r>
          </a:p>
          <a:p>
            <a:r>
              <a:rPr lang="en-US" sz="2400" b="1" dirty="0"/>
              <a:t>🎯 Problem:</a:t>
            </a:r>
          </a:p>
          <a:p>
            <a:r>
              <a:rPr lang="en-US" sz="2000" dirty="0"/>
              <a:t>In a hospital, we need to </a:t>
            </a:r>
            <a:r>
              <a:rPr lang="en-US" sz="2000" b="1" dirty="0"/>
              <a:t>store and manage a list of patients</a:t>
            </a:r>
            <a:r>
              <a:rPr lang="en-US" sz="2000" dirty="0"/>
              <a:t> visiting the outpatient department (OPD) daily. Patients can register, and their details should be stored in the </a:t>
            </a:r>
            <a:r>
              <a:rPr lang="en-US" sz="2000" b="1" dirty="0"/>
              <a:t>order they arrive</a:t>
            </a:r>
            <a:r>
              <a:rPr lang="en-US" sz="2000" dirty="0"/>
              <a:t>. The system must allow adding new patients, listing all patients, and searching a patient by name.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✅ Use Case: Hospital Queue (LinkedList)</a:t>
            </a:r>
          </a:p>
          <a:p>
            <a:r>
              <a:rPr lang="en-US" sz="2000" b="1" dirty="0"/>
              <a:t>🎯 Scenario:</a:t>
            </a:r>
          </a:p>
          <a:p>
            <a:r>
              <a:rPr lang="en-US" sz="2000" dirty="0"/>
              <a:t>In a hospital, patients arrive and are treated </a:t>
            </a:r>
            <a:r>
              <a:rPr lang="en-US" sz="2000" b="1" dirty="0"/>
              <a:t>in the same order</a:t>
            </a:r>
            <a:r>
              <a:rPr lang="en-US" sz="2000" dirty="0"/>
              <a:t> they come in, </a:t>
            </a:r>
            <a:r>
              <a:rPr lang="en-US" sz="2000" b="1" dirty="0"/>
              <a:t>first-come, first-served</a:t>
            </a:r>
            <a:r>
              <a:rPr lang="en-US" sz="2000" dirty="0"/>
              <a:t>. You may also need to:</a:t>
            </a:r>
          </a:p>
          <a:p>
            <a:r>
              <a:rPr lang="en-US" sz="2000" dirty="0"/>
              <a:t>Add a patient at the beginning (emergency case)</a:t>
            </a:r>
          </a:p>
          <a:p>
            <a:r>
              <a:rPr lang="en-US" sz="2000" dirty="0"/>
              <a:t>Remove a patient</a:t>
            </a:r>
          </a:p>
          <a:p>
            <a:r>
              <a:rPr lang="en-US" sz="2000" dirty="0"/>
              <a:t>View all patients</a:t>
            </a:r>
          </a:p>
          <a:p>
            <a:r>
              <a:rPr lang="en-US" sz="2000" dirty="0"/>
              <a:t>Check who is first or last in the queue</a:t>
            </a:r>
          </a:p>
          <a:p>
            <a:endParaRPr lang="en-US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9983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chemeClr val="tx2"/>
                </a:solidFill>
              </a:rPr>
              <a:t>HashSet and </a:t>
            </a:r>
            <a:r>
              <a:rPr sz="3200" dirty="0" err="1">
                <a:solidFill>
                  <a:schemeClr val="tx2"/>
                </a:solidFill>
              </a:rPr>
              <a:t>TreeSet</a:t>
            </a:r>
            <a:endParaRPr sz="3200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sz="2400" dirty="0"/>
              <a:t>HashSet: Implements Set using a hash table, does not guarantee any order.</a:t>
            </a:r>
            <a:endParaRPr lang="en-US" sz="2400" dirty="0"/>
          </a:p>
          <a:p>
            <a:pPr marL="0" indent="0">
              <a:buNone/>
            </a:pPr>
            <a:r>
              <a:rPr lang="en-US" sz="1800" dirty="0"/>
              <a:t>No Duplicates</a:t>
            </a:r>
          </a:p>
          <a:p>
            <a:pPr marL="0" indent="0">
              <a:buNone/>
            </a:pPr>
            <a:r>
              <a:rPr lang="en-US" sz="1800" dirty="0"/>
              <a:t>No order guarantee</a:t>
            </a:r>
          </a:p>
          <a:p>
            <a:pPr marL="0" indent="0">
              <a:buNone/>
            </a:pPr>
            <a:r>
              <a:rPr lang="en-US" sz="1800" dirty="0"/>
              <a:t>Fastest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sz="2400" dirty="0"/>
          </a:p>
          <a:p>
            <a:r>
              <a:rPr sz="2400" dirty="0" err="1"/>
              <a:t>TreeSet</a:t>
            </a:r>
            <a:r>
              <a:rPr sz="2400" dirty="0"/>
              <a:t>: Implements </a:t>
            </a:r>
            <a:r>
              <a:rPr sz="2400" dirty="0" err="1"/>
              <a:t>NavigableSet</a:t>
            </a:r>
            <a:r>
              <a:rPr sz="2400" dirty="0"/>
              <a:t> and uses a Red-Black tree, elements are sorted in natural order or by Comparator.</a:t>
            </a:r>
            <a:endParaRPr lang="en-US" sz="2400" dirty="0"/>
          </a:p>
          <a:p>
            <a:pPr marL="0" indent="0">
              <a:buNone/>
            </a:pPr>
            <a:r>
              <a:rPr lang="en-US" sz="1900" dirty="0"/>
              <a:t>No duplicates</a:t>
            </a:r>
          </a:p>
          <a:p>
            <a:pPr marL="0" indent="0">
              <a:buNone/>
            </a:pPr>
            <a:r>
              <a:rPr lang="en-US" sz="1900" dirty="0"/>
              <a:t>Sorted order</a:t>
            </a:r>
          </a:p>
          <a:p>
            <a:pPr marL="0" indent="0">
              <a:buNone/>
            </a:pPr>
            <a:r>
              <a:rPr lang="en-US" sz="1900" dirty="0"/>
              <a:t>Slower than HashSet</a:t>
            </a:r>
            <a:endParaRPr sz="1900" dirty="0"/>
          </a:p>
          <a:p>
            <a:r>
              <a:rPr sz="2400" dirty="0"/>
              <a:t>Both ensure no duplicate elements are stored.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F7A4D-5346-B4E6-FB5F-32EE9EF94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72589"/>
            <a:ext cx="8229600" cy="5976257"/>
          </a:xfrm>
        </p:spPr>
        <p:txBody>
          <a:bodyPr>
            <a:normAutofit/>
          </a:bodyPr>
          <a:lstStyle/>
          <a:p>
            <a:r>
              <a:rPr lang="en-US" sz="2400" b="1" dirty="0"/>
              <a:t>✅ Use Case: Avoid Duplicate Patient Registrations in Hospital System</a:t>
            </a:r>
          </a:p>
          <a:p>
            <a:r>
              <a:rPr lang="en-US" sz="2400" b="1" dirty="0"/>
              <a:t>🎯 Scenario:</a:t>
            </a:r>
          </a:p>
          <a:p>
            <a:r>
              <a:rPr lang="en-US" sz="2400" dirty="0"/>
              <a:t>In a hospital, when patients arrive for registration, each patient is given a </a:t>
            </a:r>
            <a:r>
              <a:rPr lang="en-US" sz="2400" b="1" dirty="0"/>
              <a:t>unique ID</a:t>
            </a:r>
            <a:r>
              <a:rPr lang="en-US" sz="2400" dirty="0"/>
              <a:t>. We want to ensure:</a:t>
            </a:r>
          </a:p>
          <a:p>
            <a:r>
              <a:rPr lang="en-US" sz="2400" dirty="0"/>
              <a:t>No patient is registered more than once (based on ID).</a:t>
            </a:r>
          </a:p>
          <a:p>
            <a:r>
              <a:rPr lang="en-US" sz="2400" dirty="0"/>
              <a:t>Staff can view the list of unique registered patients.</a:t>
            </a:r>
            <a:endParaRPr lang="en-US" dirty="0"/>
          </a:p>
          <a:p>
            <a:r>
              <a:rPr lang="en-US" sz="2000" dirty="0"/>
              <a:t>1</a:t>
            </a:r>
            <a:r>
              <a:rPr lang="en-US" sz="2000" dirty="0">
                <a:highlight>
                  <a:srgbClr val="FFFF00"/>
                </a:highlight>
              </a:rPr>
              <a:t>. unique ID</a:t>
            </a:r>
          </a:p>
          <a:p>
            <a:r>
              <a:rPr lang="en-US" sz="2000" dirty="0"/>
              <a:t>2. Id same is already registered</a:t>
            </a:r>
          </a:p>
          <a:p>
            <a:r>
              <a:rPr lang="en-US" sz="2000" dirty="0"/>
              <a:t>3.Already registered</a:t>
            </a:r>
          </a:p>
          <a:p>
            <a:r>
              <a:rPr lang="en-US" sz="2000" dirty="0"/>
              <a:t>4. </a:t>
            </a:r>
            <a:r>
              <a:rPr lang="en-US" sz="2000"/>
              <a:t>Patient </a:t>
            </a:r>
            <a:r>
              <a:rPr lang="en-US" sz="2000" dirty="0"/>
              <a:t>added to the system</a:t>
            </a:r>
          </a:p>
          <a:p>
            <a:r>
              <a:rPr lang="en-US" sz="2000" dirty="0"/>
              <a:t>5. Staff can view the list of unique registered patients.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271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B24E5-C65D-DF10-C89A-65847B865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r>
              <a:rPr lang="en-US" dirty="0" err="1"/>
              <a:t>Hashcode</a:t>
            </a:r>
            <a:r>
              <a:rPr lang="en-US" dirty="0"/>
              <a:t>()</a:t>
            </a:r>
          </a:p>
          <a:p>
            <a:r>
              <a:rPr lang="en-US" dirty="0"/>
              <a:t>Equals() : check </a:t>
            </a:r>
            <a:r>
              <a:rPr lang="en-US"/>
              <a:t>for duplicates.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8254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chemeClr val="tx2"/>
                </a:solidFill>
              </a:rPr>
              <a:t>HashMap and </a:t>
            </a:r>
            <a:r>
              <a:rPr sz="3200" dirty="0" err="1">
                <a:solidFill>
                  <a:schemeClr val="tx2"/>
                </a:solidFill>
              </a:rPr>
              <a:t>TreeMap</a:t>
            </a:r>
            <a:endParaRPr sz="3200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554" y="1417638"/>
            <a:ext cx="8229600" cy="4525963"/>
          </a:xfrm>
        </p:spPr>
        <p:txBody>
          <a:bodyPr>
            <a:normAutofit/>
          </a:bodyPr>
          <a:lstStyle/>
          <a:p>
            <a:r>
              <a:rPr sz="2400" dirty="0"/>
              <a:t>HashMap: Unordered collection that stores key-value pairs. Keys are unique.</a:t>
            </a:r>
            <a:endParaRPr lang="en-US" sz="2400" dirty="0"/>
          </a:p>
          <a:p>
            <a:pPr marL="0" indent="0">
              <a:buNone/>
            </a:pPr>
            <a:endParaRPr sz="2400" dirty="0"/>
          </a:p>
          <a:p>
            <a:r>
              <a:rPr sz="2400" dirty="0" err="1"/>
              <a:t>TreeMap</a:t>
            </a:r>
            <a:r>
              <a:rPr sz="2400" dirty="0"/>
              <a:t>: A Red-Black tree-based Map implementation that sorts entries by key.</a:t>
            </a:r>
            <a:endParaRPr lang="en-US" sz="2400" dirty="0"/>
          </a:p>
          <a:p>
            <a:endParaRPr sz="2400" dirty="0"/>
          </a:p>
          <a:p>
            <a:r>
              <a:rPr sz="2400" dirty="0"/>
              <a:t>Both allow null values, but </a:t>
            </a:r>
            <a:r>
              <a:rPr sz="2400" dirty="0" err="1"/>
              <a:t>TreeMap</a:t>
            </a:r>
            <a:r>
              <a:rPr sz="2400" dirty="0"/>
              <a:t> does not allow null keys if using natural ordering.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4E1CF-5279-7B15-8514-AFCFDD8B2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52C23-AB77-6733-C1A4-6D76C35E1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Tree Map is a map implementation</a:t>
            </a:r>
          </a:p>
          <a:p>
            <a:endParaRPr lang="en-US" sz="2000" dirty="0"/>
          </a:p>
          <a:p>
            <a:r>
              <a:rPr lang="en-US" sz="2000" dirty="0"/>
              <a:t>Stores data in key-value pairs</a:t>
            </a:r>
          </a:p>
          <a:p>
            <a:r>
              <a:rPr lang="en-US" sz="2000" dirty="0"/>
              <a:t>Maintains sorted order of key( </a:t>
            </a:r>
            <a:r>
              <a:rPr lang="en-US" sz="2000" dirty="0" err="1"/>
              <a:t>asending</a:t>
            </a:r>
            <a:r>
              <a:rPr lang="en-US" sz="2000" dirty="0"/>
              <a:t> by </a:t>
            </a:r>
            <a:r>
              <a:rPr lang="en-US" sz="2000" dirty="0" err="1"/>
              <a:t>defalut</a:t>
            </a:r>
            <a:r>
              <a:rPr lang="en-US" sz="2000" dirty="0"/>
              <a:t>)</a:t>
            </a:r>
          </a:p>
          <a:p>
            <a:endParaRPr lang="en-US" sz="2000" dirty="0"/>
          </a:p>
          <a:p>
            <a:r>
              <a:rPr lang="en-US" sz="2000" dirty="0"/>
              <a:t>Use Red-Black Tree internally: Self-balancing binary search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Does not allow null keys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40524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E1378-47E6-DB00-7175-110A6B381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846" y="1166018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✅ Use Case: Hospital Patient Records System</a:t>
            </a:r>
          </a:p>
          <a:p>
            <a:r>
              <a:rPr lang="en-US" dirty="0"/>
              <a:t>🎯 </a:t>
            </a:r>
            <a:r>
              <a:rPr lang="en-US" b="1" dirty="0"/>
              <a:t>Objective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Manage patient information by unique </a:t>
            </a:r>
            <a:r>
              <a:rPr lang="en-US" b="1" dirty="0"/>
              <a:t>Patient ID</a:t>
            </a:r>
            <a:r>
              <a:rPr lang="en-US" dirty="0"/>
              <a:t>. You should be able to:</a:t>
            </a:r>
          </a:p>
          <a:p>
            <a:r>
              <a:rPr lang="en-US" dirty="0"/>
              <a:t>Add patients</a:t>
            </a:r>
          </a:p>
          <a:p>
            <a:r>
              <a:rPr lang="en-US" dirty="0"/>
              <a:t>Update patients</a:t>
            </a:r>
          </a:p>
          <a:p>
            <a:r>
              <a:rPr lang="en-US" dirty="0"/>
              <a:t>Retrieve patient details</a:t>
            </a:r>
          </a:p>
          <a:p>
            <a:r>
              <a:rPr lang="en-US" dirty="0"/>
              <a:t>Remove patients</a:t>
            </a:r>
          </a:p>
          <a:p>
            <a:r>
              <a:rPr lang="en-US" dirty="0"/>
              <a:t>List all patients</a:t>
            </a:r>
          </a:p>
          <a:p>
            <a:r>
              <a:rPr lang="en-US" dirty="0"/>
              <a:t>Check existence of a patient</a:t>
            </a:r>
          </a:p>
          <a:p>
            <a:r>
              <a:rPr lang="en-US" dirty="0"/>
              <a:t>Count total patients</a:t>
            </a:r>
          </a:p>
          <a:p>
            <a:r>
              <a:rPr lang="en-US" dirty="0"/>
              <a:t>Clear the system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2502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chemeClr val="tx2"/>
                </a:solidFill>
              </a:rPr>
              <a:t>equals() and </a:t>
            </a:r>
            <a:r>
              <a:rPr sz="3200" dirty="0" err="1">
                <a:solidFill>
                  <a:schemeClr val="tx2"/>
                </a:solidFill>
              </a:rPr>
              <a:t>hashCode</a:t>
            </a:r>
            <a:r>
              <a:rPr sz="3200" dirty="0">
                <a:solidFill>
                  <a:schemeClr val="tx2"/>
                </a:solidFill>
              </a:rPr>
              <a:t>()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equals(): Determines object equality. Override to compare objects logically.</a:t>
            </a:r>
            <a:endParaRPr lang="en-US" sz="2400" dirty="0"/>
          </a:p>
          <a:p>
            <a:endParaRPr sz="2400" dirty="0"/>
          </a:p>
          <a:p>
            <a:r>
              <a:rPr sz="2400" dirty="0" err="1"/>
              <a:t>hashCode</a:t>
            </a:r>
            <a:r>
              <a:rPr sz="2400" dirty="0"/>
              <a:t>(): Returns an integer hash code used in hashing-based collections.</a:t>
            </a:r>
            <a:endParaRPr lang="en-US" sz="2400" dirty="0"/>
          </a:p>
          <a:p>
            <a:pPr marL="0" indent="0">
              <a:buNone/>
            </a:pPr>
            <a:endParaRPr sz="2400" dirty="0"/>
          </a:p>
          <a:p>
            <a:r>
              <a:rPr sz="2400" dirty="0"/>
              <a:t>Both must be overridden to work correctly with collections like HashSet and HashMap.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chemeClr val="tx2"/>
                </a:solidFill>
              </a:rPr>
              <a:t>Comparable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r>
              <a:rPr sz="2400" dirty="0"/>
              <a:t>Used to define the natural order of objects.</a:t>
            </a:r>
          </a:p>
          <a:p>
            <a:r>
              <a:rPr sz="2400" dirty="0"/>
              <a:t>Implements </a:t>
            </a:r>
            <a:r>
              <a:rPr sz="2400" dirty="0" err="1"/>
              <a:t>compareTo</a:t>
            </a:r>
            <a:r>
              <a:rPr sz="2400" dirty="0"/>
              <a:t>() method which compares the current object with another.</a:t>
            </a:r>
          </a:p>
          <a:p>
            <a:r>
              <a:rPr sz="2400" dirty="0"/>
              <a:t>Used in classes like </a:t>
            </a:r>
            <a:r>
              <a:rPr sz="2400" dirty="0" err="1"/>
              <a:t>TreeSet</a:t>
            </a:r>
            <a:r>
              <a:rPr sz="2400" dirty="0"/>
              <a:t> and when sorting using </a:t>
            </a:r>
            <a:r>
              <a:rPr sz="2400" dirty="0" err="1"/>
              <a:t>Collections.sort</a:t>
            </a:r>
            <a:r>
              <a:rPr sz="2400" dirty="0"/>
              <a:t>().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chemeClr val="tx2"/>
                </a:solidFill>
              </a:rPr>
              <a:t>Comparator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Used for custom sorting order when natural order is not sufficient.</a:t>
            </a:r>
          </a:p>
          <a:p>
            <a:r>
              <a:rPr sz="2400" dirty="0"/>
              <a:t>Implements compare() method which compares two different objects.</a:t>
            </a:r>
          </a:p>
          <a:p>
            <a:r>
              <a:rPr sz="2400" dirty="0"/>
              <a:t>Passed to sorting methods or </a:t>
            </a:r>
            <a:r>
              <a:rPr sz="2400" dirty="0" err="1"/>
              <a:t>TreeSet</a:t>
            </a:r>
            <a:r>
              <a:rPr sz="2400" dirty="0"/>
              <a:t> constructors for customized sorting.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chemeClr val="tx2"/>
                </a:solidFill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Collection Framework provides powerful tools for data structure management.</a:t>
            </a:r>
          </a:p>
          <a:p>
            <a:r>
              <a:rPr sz="2400" dirty="0"/>
              <a:t>List allows duplicates and maintains order.</a:t>
            </a:r>
          </a:p>
          <a:p>
            <a:r>
              <a:rPr sz="2400" dirty="0"/>
              <a:t>Set ensures uniqueness.</a:t>
            </a:r>
          </a:p>
          <a:p>
            <a:r>
              <a:rPr sz="2400" dirty="0"/>
              <a:t>Map stores key-value pairs with unique keys.</a:t>
            </a:r>
          </a:p>
          <a:p>
            <a:r>
              <a:rPr sz="2400" dirty="0"/>
              <a:t>equals() and </a:t>
            </a:r>
            <a:r>
              <a:rPr sz="2400" dirty="0" err="1"/>
              <a:t>hashCode</a:t>
            </a:r>
            <a:r>
              <a:rPr sz="2400" dirty="0"/>
              <a:t>() are crucial for object comparison.</a:t>
            </a:r>
          </a:p>
          <a:p>
            <a:r>
              <a:rPr sz="2400" dirty="0"/>
              <a:t>Comparable and Comparator control object sorting behavior.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1867</TotalTime>
  <Words>756</Words>
  <Application>Microsoft Office PowerPoint</Application>
  <PresentationFormat>On-screen Show (4:3)</PresentationFormat>
  <Paragraphs>101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Java Collection Framework </vt:lpstr>
      <vt:lpstr>Introduction to Collection Framework</vt:lpstr>
      <vt:lpstr>Understanding List, Set, and Map</vt:lpstr>
      <vt:lpstr>ArrayList and LinkedList</vt:lpstr>
      <vt:lpstr>PowerPoint Presentation</vt:lpstr>
      <vt:lpstr>HashSet and TreeSet</vt:lpstr>
      <vt:lpstr>PowerPoint Presentation</vt:lpstr>
      <vt:lpstr>PowerPoint Presentation</vt:lpstr>
      <vt:lpstr>HashMap and TreeMap</vt:lpstr>
      <vt:lpstr>PowerPoint Presentation</vt:lpstr>
      <vt:lpstr>PowerPoint Presentation</vt:lpstr>
      <vt:lpstr>equals() and hashCode() Methods</vt:lpstr>
      <vt:lpstr>Comparable Interface</vt:lpstr>
      <vt:lpstr>Comparator Interface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Renu Sai</cp:lastModifiedBy>
  <cp:revision>2</cp:revision>
  <dcterms:created xsi:type="dcterms:W3CDTF">2013-01-27T09:14:16Z</dcterms:created>
  <dcterms:modified xsi:type="dcterms:W3CDTF">2026-01-28T07:04:27Z</dcterms:modified>
  <cp:category/>
</cp:coreProperties>
</file>